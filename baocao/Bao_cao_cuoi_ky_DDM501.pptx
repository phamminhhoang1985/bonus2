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FPT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Đại học FPT   ·   Tháng 10 /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BÁO CÁO CUỐI KỲ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83080"/>
            <a:ext cx="7498079" cy="1554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Hệ thống MLOps
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493008"/>
            <a:ext cx="1920240" cy="5029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3675887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DEE8"/>
                </a:solidFill>
                <a:latin typeface="Segoe UI"/>
                <a:ea typeface="Segoe UI"/>
                <a:cs typeface="Segoe UI"/>
              </a:rPr>
              <a:t>Phân loại chất lượng rượu vang với giám sát Data Drift
và tự động tái huấn luyện mô hình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11292840" cy="1874519"/>
          </a:xfrm>
          <a:prstGeom prst="roundRect">
            <a:avLst>
              <a:gd name="adj" fmla="val 6000"/>
            </a:avLst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4773168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MÔN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029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trong sản xuất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340096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DevOps, DataOps, MLOps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32704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Mã môn: DDM501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4864608"/>
            <a:ext cx="10972" cy="1371600"/>
          </a:xfrm>
          <a:prstGeom prst="rect">
            <a:avLst/>
          </a:prstGeom>
          <a:solidFill>
            <a:srgbClr val="2C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47731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GIẢNG VIÊN HƯỚNG DẪN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510235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Nguyen Doan Dong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4864608"/>
            <a:ext cx="10972" cy="1371600"/>
          </a:xfrm>
          <a:prstGeom prst="rect">
            <a:avLst/>
          </a:prstGeom>
          <a:solidFill>
            <a:srgbClr val="2C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477316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SINH VIÊN THỰC HIỆN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065776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Phạm Minh Hoàng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5065776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25MS13285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44982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Nguyễn Công Trọng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544982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25MS13297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83387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Ngô Minh Khôi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583387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25MSA13236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01  · 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Đặt vấn đề và mục tiêu dự 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02  /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70432"/>
            <a:ext cx="507492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170432"/>
            <a:ext cx="73152" cy="5074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335024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BỐI CẢNH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27632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Mô hình rời production
vì thiếu vòng đời khép kín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4480560" cy="141732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69748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80%+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24612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mô hình ML không vào được production, hoặc suy giảm hiệu năng theo thời gian.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Hidden technical debt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62272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Nợ kỹ thuật ẩn khiến mô hình khó vận hành, khó kiểm soát và khó sửa khi dữ liệu đổi.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749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Đứt gãy quy trình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76672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Thiếu cầu nối tự động giữa dữ liệu, huấn luyện, triển khai và giám sát.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170432"/>
            <a:ext cx="617220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0448" y="1335024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MỤC TIÊU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1609344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Xây dựng MLOps khép kín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2084831"/>
            <a:ext cx="438912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066543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Kiến trúc microservices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322576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8 dịch vụ Docker, tách serving, tracking, giám sát và điều phối.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2743200"/>
            <a:ext cx="438912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72491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Dự đoán thời gian thực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80944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REST API độ trễ thấp, nhận request và trả kết quả trực tiếp.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401568"/>
            <a:ext cx="438912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Vòng đời mô hình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39311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MLflow theo dõi thí nghiệm và Model Registry quản lý phiên bản.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4059935"/>
            <a:ext cx="438912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041648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Quan sát và phát hiện drift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297679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Prometheus, Grafana và Evidently so sánh dữ liệu mới với baseline.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4718304"/>
            <a:ext cx="438912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70001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Tái huấn luyện liên tục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956048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Airflow tự chạy lại pipeline khi tỷ lệ drift vượt ngưỡng.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5376671"/>
            <a:ext cx="438912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358383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Chất lượng mã nguồn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5614415"/>
            <a:ext cx="516636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Unit test coverage ≥ 80% và CI/CD tự động trên GitHub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02  · 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Kiến trúc hệ thống tổng thể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03  / 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0607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Tám dịch vụ Docker, một vòng dữ liệu khép kín.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426464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" y="1426464"/>
            <a:ext cx="2729484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591056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92224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1031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:8000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322576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Nhận request, dự đoán, xuất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6412" y="1426464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6412" y="1426464"/>
            <a:ext cx="2729484" cy="73152"/>
          </a:xfrm>
          <a:prstGeom prst="rect">
            <a:avLst/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42716" y="1591056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2716" y="1792224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MLflow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2716" y="21031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:5000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2716" y="2322576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Metadata, artifact và registry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26464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426464"/>
            <a:ext cx="2729484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8504" y="1591056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1792224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Airflow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1031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:8080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322576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Điều phối pipeline 5 bước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7988" y="1426464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47988" y="1426464"/>
            <a:ext cx="2729484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94292" y="1591056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4292" y="1792224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4292" y="21031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Airflow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4292" y="2322576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Lên lịch và thực thi DAG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" y="2852928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0624" y="2852928"/>
            <a:ext cx="2729484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30175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DRIFT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218688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Evidently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529584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:8001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749039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So sánh reference với current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6412" y="2852928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96412" y="2852928"/>
            <a:ext cx="2729484" cy="73152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42716" y="30175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4E89"/>
                </a:solidFill>
                <a:latin typeface="Segoe UI"/>
                <a:ea typeface="Segoe UI"/>
                <a:cs typeface="Segoe UI"/>
              </a:rPr>
              <a:t>OBS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42716" y="3218688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Prometheus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2716" y="3529584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:9090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42716" y="3749039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Cào metrics vận hành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2852928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72200" y="2852928"/>
            <a:ext cx="2729484" cy="73152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18504" y="30175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4E89"/>
                </a:solidFill>
                <a:latin typeface="Segoe UI"/>
                <a:ea typeface="Segoe UI"/>
                <a:cs typeface="Segoe UI"/>
              </a:rPr>
              <a:t>OBS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8504" y="3218688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Grafana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8504" y="3529584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:3000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8504" y="3749039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Dashboard thời gian thực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47988" y="2852928"/>
            <a:ext cx="2729484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47988" y="2852928"/>
            <a:ext cx="2729484" cy="73152"/>
          </a:xfrm>
          <a:prstGeom prst="rect">
            <a:avLst/>
          </a:prstGeom>
          <a:solidFill>
            <a:srgbClr val="3D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94292" y="3017520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D4F63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94292" y="3218688"/>
            <a:ext cx="2455164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PostgreSQL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4292" y="3529584"/>
            <a:ext cx="2455164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:5432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4292" y="3749039"/>
            <a:ext cx="2436876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State cho Airflow và MLflow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0624" y="4315968"/>
            <a:ext cx="11356848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1792" y="444398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LUỒNG KHÉP KÍN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475488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Phục vụ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4956048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User request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13531" y="4992624"/>
            <a:ext cx="292608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06139" y="4956048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61303" y="4992624"/>
            <a:ext cx="292608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53911" y="4956048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Prometheus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09076" y="4992624"/>
            <a:ext cx="292608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01684" y="4956048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Grafana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55046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Tái huấn luyện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8368" y="5705856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Dữ liệu mới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13531" y="5742432"/>
            <a:ext cx="292608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06139" y="5705856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Evidently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61303" y="5742432"/>
            <a:ext cx="292608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53911" y="5705856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Airflow DAG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09076" y="5742432"/>
            <a:ext cx="292608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01684" y="5705856"/>
            <a:ext cx="2455163" cy="420624"/>
          </a:xfrm>
          <a:prstGeom prst="roundRect">
            <a:avLst>
              <a:gd name="adj" fmla="val 30000"/>
            </a:avLst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r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MLflow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03  · 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Dữ liệu và pipeline học máy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04  /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33856"/>
            <a:ext cx="5623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261872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BỘ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481328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Wine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1883664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Nguồn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8366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sklearn.datasets.load_wine()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176272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Quy mô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17627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178 mẫu hóa nghiệm, vùng Piedmont, 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46888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Bài toán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6888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Phân loại 3 lớp chất lượng rượu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2779776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Đặc trưng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61488"/>
            <a:ext cx="4069080" cy="42062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13 chỉ số hóa học, gồm Alcohol, Flavanoids, Color Intensity và Proline.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133856"/>
            <a:ext cx="5623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1261872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MÔ HÌNH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481328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Random Forest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1901952"/>
            <a:ext cx="1056132" cy="310896"/>
          </a:xfrm>
          <a:prstGeom prst="roundRect">
            <a:avLst>
              <a:gd name="adj" fmla="val 40000"/>
            </a:avLst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100 cây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20940" y="1901952"/>
            <a:ext cx="2016252" cy="310896"/>
          </a:xfrm>
          <a:prstGeom prst="roundRect">
            <a:avLst>
              <a:gd name="adj" fmla="val 40000"/>
            </a:avLst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random_state = 42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28632" y="1901952"/>
            <a:ext cx="960120" cy="310896"/>
          </a:xfrm>
          <a:prstGeom prst="roundRect">
            <a:avLst>
              <a:gd name="adj" fmla="val 40000"/>
            </a:avLst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Đa lớp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3408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34086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Ổn định trên tập nhỏ, ít nhạy với nhiễu đơn lẻ.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61518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261518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Chống overfitting tốt hơn một cây quyết định.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8895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288950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Trích được feature importance để giải thích dự đoán.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345643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NĂM MODULE TRONG src/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3822191"/>
            <a:ext cx="22128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4048" y="3822191"/>
            <a:ext cx="2212848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" y="398678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4206240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data_pipeline.py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681728"/>
            <a:ext cx="1956816" cy="12801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Nạp dữ liệu, kiểm tra định dạng, chia train/test stratified 80/20.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15768" y="3822191"/>
            <a:ext cx="22128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15768" y="3822191"/>
            <a:ext cx="2212848" cy="73152"/>
          </a:xfrm>
          <a:prstGeom prst="rect">
            <a:avLst/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43784" y="398678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43784" y="4206240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feature_engineering.py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3784" y="4681728"/>
            <a:ext cx="1956816" cy="12801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Chuẩn hóa đặc trưng bằng StandardScaler.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47488" y="3822191"/>
            <a:ext cx="22128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47488" y="3822191"/>
            <a:ext cx="2212848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75503" y="398678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3" y="4206240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train.py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5503" y="4681728"/>
            <a:ext cx="1956816" cy="12801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Huấn luyện Random Forest, cross-validation 5-fold, ghi MLflow.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79208" y="3822191"/>
            <a:ext cx="22128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379208" y="3822191"/>
            <a:ext cx="2212848" cy="73152"/>
          </a:xfrm>
          <a:prstGeom prst="rect">
            <a:avLst/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07224" y="398678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7224" y="4206240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evaluate.py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07224" y="4681728"/>
            <a:ext cx="1956816" cy="12801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Accuracy, Precision, Recall, F1-score và confusion matrix.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10928" y="3822191"/>
            <a:ext cx="22128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710928" y="3822191"/>
            <a:ext cx="2212848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38944" y="398678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8944" y="4206240"/>
            <a:ext cx="1975104" cy="42062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explainability.py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8944" y="4681728"/>
            <a:ext cx="1956816" cy="12801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Xếp hạng mức quan trọng của từng đặc trưng hóa học.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04  · 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Giám sát hệ thống và phát hiện Data Drift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05  /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33856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28016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PROMETHEUS  +  GRAFANA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3619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Sức khỏe dịch vụ, theo thời gian thực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975104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0208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RPS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Số request mỗi giây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82696" y="1975104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20208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23113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P50, P95, P99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2633472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679191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Error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8895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HTTP 4xx và 5xx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2633472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10712" y="2679191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28895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Phân phối 3 nhóm chất lượng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133856"/>
            <a:ext cx="56235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1280160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EVIDENTLY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53619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So sánh phân phối với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193852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Đo sai khác giữa dữ liệu thực nghiệm và tập tham chiếu ban đầu. Cảnh báo khi đủ nhiều đặc trưng đổi phân phối.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3368" y="2651760"/>
            <a:ext cx="5212080" cy="585216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70662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Ngưỡng kích hoạt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90779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≥ 30% đặc trưng bị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36393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KỊCH BẢN MÔ PHỎNG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3968496"/>
            <a:ext cx="56235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84048" y="3968496"/>
            <a:ext cx="73152" cy="2304288"/>
          </a:xfrm>
          <a:prstGeom prst="rect">
            <a:avLst/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11480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GIAI ĐOẠN 1  · 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38912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100 request bình thường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28032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Dữ liệu giữ phân phối gốc. Evidently không vượt ngưỡng. Hệ thống ở trạng thái an toàn, chưa tái huấn luyện.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424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Kết quả: an toàn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968496"/>
            <a:ext cx="56235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72200" y="3968496"/>
            <a:ext cx="73152" cy="230428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28232" y="411480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GIAI ĐOẠN 2  ·  DRIFT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438912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250 request có nhiễu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4828032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Nhiễu Gaussian μ = 0, σ = 2.0. Evidently thấy drift vượt 30% và gửi tín hiệu kích hoạt tái huấn luyện.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2" y="57424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Kết quả: trigger Airflow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05  ·  TỰ ĐỘNG HÓA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Điều phối tái huấn luyện và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06  /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33856"/>
            <a:ext cx="736092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28016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AIRFLOW 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1790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ml_training_pipeline  ·  6 task tuần tự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2029968"/>
            <a:ext cx="22860" cy="3337560"/>
          </a:xfrm>
          <a:prstGeom prst="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19019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1883664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data_ingestion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13969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Nạp tập dữ liệu mới tích lũy.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542032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data_cleaning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798063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Xử lý giá trị thiếu và làm sạch nhiễu.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186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00400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feature_engineering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3456432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Chuẩn hóa và fit-transform đặc trưng.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7705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858768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model_training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4114800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Huấn luyện lại mô hình trên dữ liệu mới.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354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4517136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evaluation &amp; registration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4773168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Chỉ promote nếu không kém model Production.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937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5175504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deploy_model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5431536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Reload API và cập nhật reference cho Evidently.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1133856"/>
            <a:ext cx="3895344" cy="3063240"/>
          </a:xfrm>
          <a:prstGeom prst="roundRect">
            <a:avLst>
              <a:gd name="adj" fmla="val 5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9872" y="129844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GITHUB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155448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CI/CD trên mỗi commit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21945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21945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237744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Push hoặc pull request vào main và develop.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26517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26517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83464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flake8 kiểm tra phong cách mã nguồn.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2" y="31089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31089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329184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Unit test và báo cáo coverage.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9872" y="35661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35661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Build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3749039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Đóng Docker image cho các service.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09560" y="4343400"/>
            <a:ext cx="3895344" cy="1911095"/>
          </a:xfrm>
          <a:prstGeom prst="roundRect">
            <a:avLst>
              <a:gd name="adj" fmla="val 5000"/>
            </a:avLst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19872" y="449884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CỔNG CHẤT LƯỢNG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9872" y="475488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Không </a:t>
            </a:r>
            <a:r>
              <a:rPr sz="1800" b="1" smtClean="0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kém</a:t>
            </a:r>
            <a:r>
              <a:rPr lang="en-US" sz="1800" b="1" smtClean="0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 hơn =&gt;</a:t>
            </a:r>
            <a:r>
              <a:rPr sz="1800" b="1" smtClean="0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Production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2" y="530352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Đo trên cùng test set. Bản kém hơn không được ghi đè. Task 6 chỉ deploy khi đã promote.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06  ·  AN TOÀN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Rollback và bảo vệ model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07  / 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Model kém không được ghi đè. Bản cũ vẫn còn để quay lại ngay.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426464"/>
            <a:ext cx="36880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" y="1426464"/>
            <a:ext cx="3688080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6093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865376"/>
            <a:ext cx="3285744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Cổng chất lượng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231136"/>
            <a:ext cx="3285744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Task 5 · should_promote()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615184"/>
            <a:ext cx="3285744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Candidate và model Production được chấm trên cùng một tập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73552"/>
            <a:ext cx="3285744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Accuracy mới thấp hơn thì promote = False. Task deploy bị bỏ qua, bản đang chạy giữ nguyên.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5008" y="1426464"/>
            <a:ext cx="36880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5008" y="1426464"/>
            <a:ext cx="3688080" cy="73152"/>
          </a:xfrm>
          <a:prstGeom prst="rect">
            <a:avLst/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6176" y="16093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1865376"/>
            <a:ext cx="3285744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Giữ version cũ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2231136"/>
            <a:ext cx="3285744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register_and_promote()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6176" y="2615184"/>
            <a:ext cx="3285744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Bản mới lên Production thì bản trước chuyển sang Archived, không bị xóa.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6176" y="3273552"/>
            <a:ext cx="3285744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Model wine_quality_model. Rollback là đưa version Archived trở lại Production.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9392" y="1426464"/>
            <a:ext cx="36880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89392" y="1426464"/>
            <a:ext cx="3688080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0560" y="16093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560" y="1865376"/>
            <a:ext cx="3285744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Hot-reload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231136"/>
            <a:ext cx="3285744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load_model() theo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560" y="2615184"/>
            <a:ext cx="3285744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API luôn nạp model ở stage Production, không gắn cứng một số version.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560" y="3273552"/>
            <a:ext cx="3285744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POST /model/reload nạp lại model đang active. Không cần khởi động lại dịch vụ.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" y="4370832"/>
            <a:ext cx="11356848" cy="1901952"/>
          </a:xfrm>
          <a:prstGeom prst="roundRect">
            <a:avLst>
              <a:gd name="adj" fmla="val 5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51713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ROLLBACK CHỦ ĐỘNG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36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Khi model mới đã lên Production nhưng phát sinh lỗi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0235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51023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MLflow UI :5000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13248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Mở wine_quality_model, chọn version cũ, chuyển stage thành Production.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10235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2584" y="51023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POST /model/reload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13248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Gọi http://localhost:8000/model/reload để API nạp lại stage Production.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9" y="510235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3" y="51023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Phục vụ model cũ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19" y="5413248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Request tiếp theo dùng version vừa khôi phục, không cần deploy lại.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07  · 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Kết quả thực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08  / 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0607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Đối chiếu trực tiếp với tiêu chí của môn học.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426464"/>
            <a:ext cx="2168956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" y="1426464"/>
            <a:ext cx="2168956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627632"/>
            <a:ext cx="2022652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194560"/>
            <a:ext cx="1986076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Test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523744"/>
            <a:ext cx="1986076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P = R = F1 = 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7596" y="1426464"/>
            <a:ext cx="2168956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17596" y="1426464"/>
            <a:ext cx="2168956" cy="73152"/>
          </a:xfrm>
          <a:prstGeom prst="rect">
            <a:avLst/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90748" y="1627632"/>
            <a:ext cx="2022652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97.9%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9036" y="2194560"/>
            <a:ext cx="1986076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5-fold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9036" y="2523744"/>
            <a:ext cx="1986076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Độ lệch ± 2.8%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4569" y="1426464"/>
            <a:ext cx="2168956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14569" y="1426464"/>
            <a:ext cx="2168956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87721" y="1627632"/>
            <a:ext cx="2022652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74/74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6009" y="2194560"/>
            <a:ext cx="1986076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Test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6009" y="2523744"/>
            <a:ext cx="1986076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API, pipeline, train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1542" y="1426464"/>
            <a:ext cx="2168956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1542" y="1426464"/>
            <a:ext cx="2168956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4694" y="1627632"/>
            <a:ext cx="2022652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2982" y="2194560"/>
            <a:ext cx="1986076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2982" y="2523744"/>
            <a:ext cx="1986076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Vượt mốc 80%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8515" y="1426464"/>
            <a:ext cx="2168956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8515" y="1426464"/>
            <a:ext cx="2168956" cy="73152"/>
          </a:xfrm>
          <a:prstGeom prst="rect">
            <a:avLst/>
          </a:prstGeom>
          <a:solidFill>
            <a:srgbClr val="0E6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81667" y="1627632"/>
            <a:ext cx="2022652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~15s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9955" y="2194560"/>
            <a:ext cx="1986076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Thời gian DAG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9955" y="2523744"/>
            <a:ext cx="1986076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Các task đều SUCCESS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3675887"/>
            <a:ext cx="3675887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385876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51376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Tổng quát hóa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645152"/>
            <a:ext cx="3236976" cy="1325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Cross-validation 97.9% ± 2.8% cho thấy accuracy trên tập test không đến từ một lần chia dữ liệu may mắn.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61104" y="3675887"/>
            <a:ext cx="3675887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0560" y="385876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151376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Drift kích hoạt đúng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645152"/>
            <a:ext cx="3236976" cy="1325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Airflow REST API nhận tín hiệu khi Evidently vượt ngưỡng. Không chạy lại khi dữ liệu còn sạch.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01584" y="3675887"/>
            <a:ext cx="3675887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385876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151376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Không gián đoạn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45152"/>
            <a:ext cx="3236976" cy="1325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332"/>
                </a:solidFill>
                <a:latin typeface="Segoe UI"/>
                <a:ea typeface="Segoe UI"/>
                <a:cs typeface="Segoe UI"/>
              </a:rPr>
              <a:t>Sau khi promote, Airflow gọi POST /model/reload. API nạp model Production mới mà không cần khởi động lại.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08  ·  KHÉP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02336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Kết luận và hướng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32688"/>
            <a:ext cx="1051560" cy="411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8912" y="6473952"/>
            <a:ext cx="11320272" cy="9144"/>
          </a:xfrm>
          <a:prstGeom prst="rect">
            <a:avLst/>
          </a:prstGeom>
          <a:solidFill>
            <a:srgbClr val="E3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2881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DDM501  ·  AI trong sản xuất  ·  FPT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288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09  /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33856"/>
            <a:ext cx="562356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29844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ĐÃ LÀM ĐƯỢC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007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00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Vòng đời khép kín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Từ request, giám sát, phát hiện drift đến tái huấn luyện, cổng chất lượng và rollback.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7066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066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Đủ chuẩn vận hành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CI/CD, Docker, Airflow, Prometheus, Grafana và coverage 90%.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37124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124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Tái lập được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2336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Xử lý lệch phiên bản thư viện và lưu artifact tại chỗ để pipeline chạy lại trên máy nhóm.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133856"/>
            <a:ext cx="562356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1298448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BƯỚC TIẾP THEO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7007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1700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Kubernetes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01168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Đưa serving lên cụm với KServe hoặc Seldon Core khi lưu lượng tăng.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7066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7066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Feature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01752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Feast quản lý và chia sẻ đặc trưng dùng chung giữa train và serve.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7124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6B6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7124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Segoe UI"/>
                <a:ea typeface="Segoe UI"/>
                <a:cs typeface="Segoe UI"/>
              </a:rPr>
              <a:t>Canary / A/B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02336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Segoe UI"/>
                <a:ea typeface="Segoe UI"/>
                <a:cs typeface="Segoe UI"/>
              </a:rPr>
              <a:t>So sánh model mới với model đang chạy trước khi chuyển toàn bộ traffic.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5074920"/>
            <a:ext cx="11411712" cy="1207008"/>
          </a:xfrm>
          <a:prstGeom prst="roundRect">
            <a:avLst>
              <a:gd name="adj" fmla="val 5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5230368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Cảm ơn thầy Nguyen Doan Dong và Hội đồng.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632704"/>
            <a:ext cx="7498079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5D0DC"/>
                </a:solidFill>
                <a:latin typeface="Segoe UI"/>
                <a:ea typeface="Segoe UI"/>
                <a:cs typeface="Segoe UI"/>
              </a:rPr>
              <a:t>Nhóm sẵn sàng trao đổi thêm về kiến trúc, số liệu và phần demo.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32180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86A17"/>
                </a:solidFill>
                <a:latin typeface="Segoe UI"/>
                <a:ea typeface="Segoe UI"/>
                <a:cs typeface="Segoe U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1508</Words>
  <Application>Microsoft Office PowerPoint</Application>
  <PresentationFormat>Widescreen</PresentationFormat>
  <Paragraphs>301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cuối kỳ — Hệ thống MLOps End-to-End</dc:title>
  <dc:subject>DDM501 — AI trong sản xuất: DevOps, DataOps, MLOps</dc:subject>
  <dc:creator>Phạm Minh Hoàng, Nguyễn Công Trọng, Ngô Minh Khôi</dc:creator>
  <cp:keywords/>
  <dc:description>generated using python-pptx</dc:description>
  <cp:lastModifiedBy>XPS</cp:lastModifiedBy>
  <cp:revision>2</cp:revision>
  <dcterms:created xsi:type="dcterms:W3CDTF">2013-01-27T09:14:16Z</dcterms:created>
  <dcterms:modified xsi:type="dcterms:W3CDTF">2026-10-04T04:36:26Z</dcterms:modified>
  <cp:category>FPT University</cp:category>
</cp:coreProperties>
</file>